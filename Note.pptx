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50" d="100"/>
          <a:sy n="50" d="100"/>
        </p:scale>
        <p:origin x="29" y="10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8DEB6A-4B47-E594-0DFC-92626D608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AFBFD8-3F55-DC00-80ED-4F1C00395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1819C7-024F-60BB-E9A0-79B9F74FB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0C7075-B6DE-0679-B702-CE5AD517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5AF26C-E28B-DD7A-0B60-65EDE38D9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2466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D536D4-1D61-EA26-8B1E-99252DC4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038ED9-069C-23DB-6F76-3D66D8054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3396F8-0818-97D8-B9E5-4E54004A3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EB4ED4-B50E-229F-4771-27D935AC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8A281B-F5B9-AA5C-B446-F6CC205A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500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65DBE-5A28-4A19-DCBE-9461F6F05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DC10FD-CBA3-527B-91A3-BB30C1983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B01CC4-ABD3-19E0-AC1A-F66F8142C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94D619-7F9A-0001-3E91-20909ABF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DAF5EC-CCBE-1D57-73A3-AF24013E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87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42C727-57EB-30A8-5BEB-A6E33DEB4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BB80F9-9C0F-D97C-7B59-9A1688764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3B3390-44AC-47A0-0EE9-D7C6DACA9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C7D6CD-DF49-3CE8-9F98-686B1D58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FE3DE3-015F-780D-4FE7-C26A76BD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1E6E12-198C-BEB2-6C8C-B82E958A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063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900A5C-37C8-4F2D-203E-5F1267FF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85172B-28F1-E468-9699-40746676B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0F23141-85FB-2F85-9C24-FBF54ACBF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94EA1FA-F17C-1196-27B1-1F3A2CF28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1B3ECC-6B58-BA0E-1FCA-B8FE91ADF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119302-4F9E-3035-BC3C-DBCE1E14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52E5B7-487A-AB95-F97F-4809E5B9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5901C6-EE47-EB13-E64A-37EBD7B2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0847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CB9337-D2AF-B2A5-496C-F0DC1DC4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FBFBE3A-113D-1964-F529-DDF6DDBE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7A49D2-5638-A486-2113-025A3E25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03167A8-56C6-9DFC-95F0-24633FF7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19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B585AF-68DC-185A-54E9-FD5038705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0F32DE8-E140-8648-87D2-3370B64C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BEB843-558B-848F-B770-1884B604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436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C64569-6893-912B-A884-947FF7D3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C431CC-D59F-9645-979D-B4FF3814B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A0AE81-7818-14B6-2327-BDA4DFC8E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FB9D61-4147-22F2-A8DB-C86AE541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0D42CD-F59F-3D54-AE2D-24E95D48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1D28A7-2953-1A98-DCF3-17E7920E6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17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6A87D-B4A3-836F-A1FF-6DD9CCAD9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54C9C2F-13C2-2C01-E50D-A19FFF514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40E481-2017-CCB2-F38C-CD1AD4FC0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89A46D-FBE5-3E6E-7ACA-9D35D402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4C0F7A-8B4F-9D6D-E3AD-B24AC72B0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18779E-00E7-37BA-2210-3BBEE97A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3710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2A971E-B5D9-79D7-34EE-A8E600184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13E234-D541-1B99-D3BE-4B5A58564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7D8BC1-FD75-FFC8-D867-65C7C0ABE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B4A55F-BAFD-6585-D5FD-4FCE88AB2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C387AD-E7CC-250C-1F3F-6CFF513E0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31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95C2DA0-6249-9E11-261E-A1A74598A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EFD65C-AE07-B923-AAA3-8016577EF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CC9C84-568D-CF6A-DC3A-E1CDAF19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525B0CD-2653-FCB3-1528-60227772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5B834D-6002-9E1A-E3EF-93724AFF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484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01D8470-EC0D-B85C-40E8-06FF73314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56A328-29C3-72F0-BD0F-34E1B21C3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6A131D-4A4B-C24D-878C-501081AF3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29ED21-8C56-44B9-988C-50FDA055D0F5}" type="datetimeFigureOut">
              <a:rPr kumimoji="1" lang="ja-JP" altLang="en-US" smtClean="0"/>
              <a:t>2026/2/19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3BC9CE-9586-748B-6229-7FD20E6E4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160CF0-9D6F-F798-8505-931012553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047D47-6DBD-4927-83E8-65D40CD2DF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599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362A4E-CB67-3888-5DF3-88E64222CD8F}"/>
              </a:ext>
            </a:extLst>
          </p:cNvPr>
          <p:cNvSpPr txBox="1"/>
          <p:nvPr/>
        </p:nvSpPr>
        <p:spPr>
          <a:xfrm>
            <a:off x="156754" y="252548"/>
            <a:ext cx="8985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Low quality of random number affects to Crypto and then TLS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935854-3EA3-BEB4-831E-E963680954F2}"/>
              </a:ext>
            </a:extLst>
          </p:cNvPr>
          <p:cNvSpPr txBox="1"/>
          <p:nvPr/>
        </p:nvSpPr>
        <p:spPr>
          <a:xfrm>
            <a:off x="304800" y="975360"/>
            <a:ext cx="78117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A1: how extent quality of random number</a:t>
            </a:r>
          </a:p>
          <a:p>
            <a:r>
              <a:rPr kumimoji="1" lang="en-US" altLang="ja-JP" dirty="0"/>
              <a:t>A2: how extent </a:t>
            </a:r>
            <a:r>
              <a:rPr lang="en-US" altLang="ja-JP" dirty="0"/>
              <a:t>and how a</a:t>
            </a:r>
            <a:r>
              <a:rPr kumimoji="1" lang="en-US" altLang="ja-JP" dirty="0"/>
              <a:t>ffect to Key stream from the random numbers</a:t>
            </a:r>
          </a:p>
          <a:p>
            <a:r>
              <a:rPr kumimoji="1" lang="en-US" altLang="ja-JP" dirty="0"/>
              <a:t>B1: how affect to Ciphertext from the key stream</a:t>
            </a:r>
          </a:p>
          <a:p>
            <a:endParaRPr lang="en-US" altLang="ja-JP" dirty="0"/>
          </a:p>
          <a:p>
            <a:r>
              <a:rPr kumimoji="1" lang="en-US" altLang="ja-JP" dirty="0"/>
              <a:t>How measures A2, B1 in AES-CTR??</a:t>
            </a:r>
          </a:p>
          <a:p>
            <a:endParaRPr lang="en-US" altLang="ja-JP" dirty="0"/>
          </a:p>
          <a:p>
            <a:r>
              <a:rPr kumimoji="1" lang="en-US" altLang="ja-JP" dirty="0"/>
              <a:t>A1: NIST SP-800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FEE997C-AF1A-6BC0-9C3D-F2CAC8900082}"/>
              </a:ext>
            </a:extLst>
          </p:cNvPr>
          <p:cNvSpPr txBox="1"/>
          <p:nvPr/>
        </p:nvSpPr>
        <p:spPr>
          <a:xfrm>
            <a:off x="8441937" y="975360"/>
            <a:ext cx="38074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TLS has vulnerability by AES-CBC</a:t>
            </a:r>
          </a:p>
          <a:p>
            <a:r>
              <a:rPr lang="en-US" altLang="ja-JP" dirty="0"/>
              <a:t>Called  Beast attack</a:t>
            </a:r>
          </a:p>
        </p:txBody>
      </p:sp>
      <p:pic>
        <p:nvPicPr>
          <p:cNvPr id="8" name="図 7" descr="グラフ, 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BC9BBAA0-A64D-436C-7840-BF31CC51B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11968"/>
            <a:ext cx="3549343" cy="151703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2BBE85-3037-8300-6448-92951BCF8833}"/>
              </a:ext>
            </a:extLst>
          </p:cNvPr>
          <p:cNvSpPr txBox="1"/>
          <p:nvPr/>
        </p:nvSpPr>
        <p:spPr>
          <a:xfrm>
            <a:off x="9152709" y="1674497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AES-CBC</a:t>
            </a:r>
            <a:endParaRPr kumimoji="1" lang="ja-JP" altLang="en-US" dirty="0"/>
          </a:p>
        </p:txBody>
      </p:sp>
      <p:pic>
        <p:nvPicPr>
          <p:cNvPr id="1025" name="Picture 1" descr="IV||O &#10;IV||1 &#10;IV||N-1 &#10;K &#10;E &#10;K - &#10;E &#10;... K - &#10;E &#10;M1 &#10;M2 &#10;MN - &#10;Co &#10;C1 &#10;C2 &#10;CN ">
            <a:extLst>
              <a:ext uri="{FF2B5EF4-FFF2-40B4-BE49-F238E27FC236}">
                <a16:creationId xmlns:a16="http://schemas.microsoft.com/office/drawing/2014/main" id="{E1E25D70-D01B-F76C-41C4-D97CE3078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01" b="8669"/>
          <a:stretch>
            <a:fillRect/>
          </a:stretch>
        </p:blipFill>
        <p:spPr bwMode="auto">
          <a:xfrm>
            <a:off x="8124114" y="4165250"/>
            <a:ext cx="2995088" cy="171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66A9935-1378-AFE7-D092-B39AEB62292E}"/>
              </a:ext>
            </a:extLst>
          </p:cNvPr>
          <p:cNvSpPr txBox="1"/>
          <p:nvPr/>
        </p:nvSpPr>
        <p:spPr>
          <a:xfrm>
            <a:off x="9159922" y="371927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AES-CTR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608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9832E18-7ACB-0573-7642-0B741F8CE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921" y="643467"/>
            <a:ext cx="3390956" cy="254321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図 6" descr="グラフ, 折れ線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10BEF09F-438B-B10B-F2E4-BCB788708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08" y="643467"/>
            <a:ext cx="3390956" cy="254321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図 4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DEA30673-7860-C800-27F7-36093811D3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158" y="3671316"/>
            <a:ext cx="3394482" cy="2545862"/>
          </a:xfrm>
          <a:prstGeom prst="rect">
            <a:avLst/>
          </a:prstGeom>
        </p:spPr>
      </p:pic>
      <p:pic>
        <p:nvPicPr>
          <p:cNvPr id="3" name="図 2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A57B16BD-E94C-3B44-665D-C5A3FC32E1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473" y="3671316"/>
            <a:ext cx="3404625" cy="255346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F342665-3E68-9A9B-C346-3619EF1EACF8}"/>
              </a:ext>
            </a:extLst>
          </p:cNvPr>
          <p:cNvSpPr txBox="1"/>
          <p:nvPr/>
        </p:nvSpPr>
        <p:spPr>
          <a:xfrm>
            <a:off x="83127" y="135082"/>
            <a:ext cx="5912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0208 measure of key stream on low random quality</a:t>
            </a:r>
          </a:p>
          <a:p>
            <a:r>
              <a:rPr lang="en-US" altLang="ja-JP" dirty="0" err="1"/>
              <a:t>support_shrink_hash_expand</a:t>
            </a:r>
            <a:endParaRPr lang="en-US" altLang="ja-JP" dirty="0"/>
          </a:p>
        </p:txBody>
      </p:sp>
      <p:pic>
        <p:nvPicPr>
          <p:cNvPr id="12" name="図 11" descr="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7C1E27A-DB6F-3671-B48B-1623928D3F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34" y="1341120"/>
            <a:ext cx="1869445" cy="140208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6D9990F-9246-871F-FF96-3849B882BD37}"/>
              </a:ext>
            </a:extLst>
          </p:cNvPr>
          <p:cNvSpPr txBox="1"/>
          <p:nvPr/>
        </p:nvSpPr>
        <p:spPr>
          <a:xfrm>
            <a:off x="9440662" y="157105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3228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C5D4E96-0837-93EC-1411-D95DE2192911}"/>
              </a:ext>
            </a:extLst>
          </p:cNvPr>
          <p:cNvSpPr txBox="1"/>
          <p:nvPr/>
        </p:nvSpPr>
        <p:spPr>
          <a:xfrm>
            <a:off x="4267200" y="328023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800" dirty="0"/>
              <a:t>Researcher review</a:t>
            </a:r>
          </a:p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6342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6AE8E1C-72E3-C61A-2B0E-E2E6D33AC161}"/>
              </a:ext>
            </a:extLst>
          </p:cNvPr>
          <p:cNvSpPr txBox="1"/>
          <p:nvPr/>
        </p:nvSpPr>
        <p:spPr>
          <a:xfrm>
            <a:off x="244928" y="146957"/>
            <a:ext cx="914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GCM-SIV: Full Nonce Misuse-Resistant Authenticated Encryption at Under One C/B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8E9CFC-9661-A5BA-EDB5-4B052AC491E4}"/>
              </a:ext>
            </a:extLst>
          </p:cNvPr>
          <p:cNvSpPr txBox="1"/>
          <p:nvPr/>
        </p:nvSpPr>
        <p:spPr>
          <a:xfrm>
            <a:off x="244929" y="899160"/>
            <a:ext cx="116422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Background- </a:t>
            </a:r>
            <a:r>
              <a:rPr kumimoji="1" lang="en-US" altLang="ja-JP" dirty="0">
                <a:highlight>
                  <a:srgbClr val="FFFF00"/>
                </a:highlight>
              </a:rPr>
              <a:t>CAESAR </a:t>
            </a:r>
            <a:r>
              <a:rPr kumimoji="1" lang="en-US" altLang="ja-JP" dirty="0"/>
              <a:t>competition is consider</a:t>
            </a:r>
            <a:r>
              <a:rPr lang="en-US" altLang="ja-JP" dirty="0"/>
              <a:t>ing new model for authentication encryption</a:t>
            </a:r>
          </a:p>
          <a:p>
            <a:r>
              <a:rPr lang="en-US" altLang="ja-JP" dirty="0"/>
              <a:t>Even if nonce or IV repeating, this can keep secure.</a:t>
            </a:r>
          </a:p>
          <a:p>
            <a:endParaRPr lang="en-US" altLang="ja-JP" dirty="0"/>
          </a:p>
          <a:p>
            <a:r>
              <a:rPr kumimoji="1" lang="en-US" altLang="ja-JP" dirty="0"/>
              <a:t>RQ- : How to make new authenticated encryption scheme using GCM building block. </a:t>
            </a:r>
          </a:p>
          <a:p>
            <a:endParaRPr lang="en-US" altLang="ja-JP" dirty="0"/>
          </a:p>
          <a:p>
            <a:r>
              <a:rPr lang="en-US" altLang="ja-JP" dirty="0"/>
              <a:t>Measure : A full nonce misuse-resistant authenticated encryption scheme can do that if</a:t>
            </a:r>
            <a:r>
              <a:rPr kumimoji="1" lang="en-US" altLang="ja-JP" dirty="0"/>
              <a:t> the same nonce is used </a:t>
            </a:r>
            <a:r>
              <a:rPr lang="en-US" altLang="ja-JP" dirty="0"/>
              <a:t>encrypt the same message twice, then the same ciphertext is obtain.</a:t>
            </a:r>
          </a:p>
          <a:p>
            <a:endParaRPr kumimoji="1" lang="en-US" altLang="ja-JP" dirty="0"/>
          </a:p>
          <a:p>
            <a:r>
              <a:rPr lang="en-US" altLang="ja-JP"/>
              <a:t>How :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17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7457</TotalTime>
  <Words>166</Words>
  <Application>Microsoft Office PowerPoint</Application>
  <PresentationFormat>ワイド画面</PresentationFormat>
  <Paragraphs>25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Hiromasa Kinase</dc:creator>
  <cp:lastModifiedBy>Hiromasa Kinase</cp:lastModifiedBy>
  <cp:revision>4</cp:revision>
  <dcterms:created xsi:type="dcterms:W3CDTF">2026-02-13T09:27:40Z</dcterms:created>
  <dcterms:modified xsi:type="dcterms:W3CDTF">2026-02-19T17:12:01Z</dcterms:modified>
</cp:coreProperties>
</file>