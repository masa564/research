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>
        <p:scale>
          <a:sx n="100" d="100"/>
          <a:sy n="100" d="100"/>
        </p:scale>
        <p:origin x="58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8DEB6A-4B47-E594-0DFC-92626D6088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9AFBFD8-3F55-DC00-80ED-4F1C003951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1819C7-024F-60BB-E9A0-79B9F74FB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ED21-8C56-44B9-988C-50FDA055D0F5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70C7075-B6DE-0679-B702-CE5AD5172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15AF26C-E28B-DD7A-0B60-65EDE38D9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2466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D536D4-1D61-EA26-8B1E-99252DC48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B038ED9-069C-23DB-6F76-3D66D8054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23396F8-0818-97D8-B9E5-4E54004A3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ED21-8C56-44B9-988C-50FDA055D0F5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BEB4ED4-B50E-229F-4771-27D935AC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8A281B-F5B9-AA5C-B446-F6CC205A7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5005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965DBE-5A28-4A19-DCBE-9461F6F05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2DC10FD-CBA3-527B-91A3-BB30C1983B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B01CC4-ABD3-19E0-AC1A-F66F8142C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ED21-8C56-44B9-988C-50FDA055D0F5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C94D619-7F9A-0001-3E91-20909ABFC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8DAF5EC-CCBE-1D57-73A3-AF24013E6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78725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42C727-57EB-30A8-5BEB-A6E33DEB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BB80F9-9C0F-D97C-7B59-9A1688764C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73B3390-44AC-47A0-0EE9-D7C6DACA96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1C7D6CD-DF49-3CE8-9F98-686B1D58A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ED21-8C56-44B9-988C-50FDA055D0F5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3FE3DE3-015F-780D-4FE7-C26A76BD6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01E6E12-198C-BEB2-6C8C-B82E958A9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0638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900A5C-37C8-4F2D-203E-5F1267FF5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F85172B-28F1-E468-9699-40746676B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0F23141-85FB-2F85-9C24-FBF54ACBF4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94EA1FA-F17C-1196-27B1-1F3A2CF28E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91B3ECC-6B58-BA0E-1FCA-B8FE91ADF4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C119302-4F9E-3035-BC3C-DBCE1E14D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ED21-8C56-44B9-988C-50FDA055D0F5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052E5B7-487A-AB95-F97F-4809E5B9D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C5901C6-EE47-EB13-E64A-37EBD7B2B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0847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CB9337-D2AF-B2A5-496C-F0DC1DC40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FBFBE3A-113D-1964-F529-DDF6DDBEC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ED21-8C56-44B9-988C-50FDA055D0F5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E7A49D2-5638-A486-2113-025A3E258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03167A8-56C6-9DFC-95F0-24633FF76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51973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5B585AF-68DC-185A-54E9-FD5038705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ED21-8C56-44B9-988C-50FDA055D0F5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0F32DE8-E140-8648-87D2-3370B64CC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9BEB843-558B-848F-B770-1884B6045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9436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EC64569-6893-912B-A884-947FF7D38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5C431CC-D59F-9645-979D-B4FF3814B5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CA0AE81-7818-14B6-2327-BDA4DFC8E9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EFB9D61-4147-22F2-A8DB-C86AE5417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ED21-8C56-44B9-988C-50FDA055D0F5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60D42CD-F59F-3D54-AE2D-24E95D480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1D28A7-2953-1A98-DCF3-17E7920E6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1777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E6A87D-B4A3-836F-A1FF-6DD9CCAD9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54C9C2F-13C2-2C01-E50D-A19FFF5149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940E481-2017-CCB2-F38C-CD1AD4FC0D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89A46D-FBE5-3E6E-7ACA-9D35D4025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ED21-8C56-44B9-988C-50FDA055D0F5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94C0F7A-8B4F-9D6D-E3AD-B24AC72B0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F18779E-00E7-37BA-2210-3BBEE97A9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3710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2A971E-B5D9-79D7-34EE-A8E600184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13E234-D541-1B99-D3BE-4B5A585641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47D8BC1-FD75-FFC8-D867-65C7C0ABE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ED21-8C56-44B9-988C-50FDA055D0F5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5B4A55F-BAFD-6585-D5FD-4FCE88AB2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BC387AD-E7CC-250C-1F3F-6CFF513E0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1316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95C2DA0-6249-9E11-261E-A1A74598AD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AEFD65C-AE07-B923-AAA3-8016577EF1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3CC9C84-568D-CF6A-DC3A-E1CDAF19C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ED21-8C56-44B9-988C-50FDA055D0F5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525B0CD-2653-FCB3-1528-60227772F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65B834D-6002-9E1A-E3EF-93724AFF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1484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01D8470-EC0D-B85C-40E8-06FF73314F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56A328-29C3-72F0-BD0F-34E1B21C3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6A131D-4A4B-C24D-878C-501081AF34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29ED21-8C56-44B9-988C-50FDA055D0F5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13BC9CE-9586-748B-6229-7FD20E6E44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C160CF0-9D6F-F798-8505-931012553D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05999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2362A4E-CB67-3888-5DF3-88E64222CD8F}"/>
              </a:ext>
            </a:extLst>
          </p:cNvPr>
          <p:cNvSpPr txBox="1"/>
          <p:nvPr/>
        </p:nvSpPr>
        <p:spPr>
          <a:xfrm>
            <a:off x="156754" y="252548"/>
            <a:ext cx="89851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Low quality of random number affects to Crypto and then TLS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7935854-3EA3-BEB4-831E-E963680954F2}"/>
              </a:ext>
            </a:extLst>
          </p:cNvPr>
          <p:cNvSpPr txBox="1"/>
          <p:nvPr/>
        </p:nvSpPr>
        <p:spPr>
          <a:xfrm>
            <a:off x="304800" y="975360"/>
            <a:ext cx="781175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A1: how extent quality of random number</a:t>
            </a:r>
          </a:p>
          <a:p>
            <a:r>
              <a:rPr kumimoji="1" lang="en-US" altLang="ja-JP" dirty="0"/>
              <a:t>A2: how extent </a:t>
            </a:r>
            <a:r>
              <a:rPr lang="en-US" altLang="ja-JP" dirty="0"/>
              <a:t>and how a</a:t>
            </a:r>
            <a:r>
              <a:rPr kumimoji="1" lang="en-US" altLang="ja-JP" dirty="0"/>
              <a:t>ffect to Key stream from the random numbers</a:t>
            </a:r>
          </a:p>
          <a:p>
            <a:r>
              <a:rPr kumimoji="1" lang="en-US" altLang="ja-JP" dirty="0"/>
              <a:t>B1: how affect to Ciphertext from the key stream</a:t>
            </a:r>
          </a:p>
          <a:p>
            <a:endParaRPr lang="en-US" altLang="ja-JP" dirty="0"/>
          </a:p>
          <a:p>
            <a:r>
              <a:rPr kumimoji="1" lang="en-US" altLang="ja-JP" dirty="0"/>
              <a:t>How measures A2, B1 in AES-CTR??</a:t>
            </a:r>
          </a:p>
          <a:p>
            <a:endParaRPr lang="en-US" altLang="ja-JP" dirty="0"/>
          </a:p>
          <a:p>
            <a:r>
              <a:rPr kumimoji="1" lang="en-US" altLang="ja-JP" dirty="0"/>
              <a:t>A1: NIST SP-800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FEE997C-AF1A-6BC0-9C3D-F2CAC8900082}"/>
              </a:ext>
            </a:extLst>
          </p:cNvPr>
          <p:cNvSpPr txBox="1"/>
          <p:nvPr/>
        </p:nvSpPr>
        <p:spPr>
          <a:xfrm>
            <a:off x="8441937" y="975360"/>
            <a:ext cx="3807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TLS has vulnerability by AES-CBC</a:t>
            </a:r>
          </a:p>
          <a:p>
            <a:r>
              <a:rPr lang="en-US" altLang="ja-JP" dirty="0"/>
              <a:t>Called  Beast attack</a:t>
            </a:r>
          </a:p>
        </p:txBody>
      </p:sp>
      <p:pic>
        <p:nvPicPr>
          <p:cNvPr id="8" name="図 7" descr="グラフ, ダイア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BC9BBAA0-A64D-436C-7840-BF31CC51B9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911968"/>
            <a:ext cx="3549343" cy="1517032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82BBE85-3037-8300-6448-92951BCF8833}"/>
              </a:ext>
            </a:extLst>
          </p:cNvPr>
          <p:cNvSpPr txBox="1"/>
          <p:nvPr/>
        </p:nvSpPr>
        <p:spPr>
          <a:xfrm>
            <a:off x="9152709" y="1674497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AES-CBC</a:t>
            </a:r>
            <a:endParaRPr kumimoji="1" lang="ja-JP" altLang="en-US" dirty="0"/>
          </a:p>
        </p:txBody>
      </p:sp>
      <p:pic>
        <p:nvPicPr>
          <p:cNvPr id="1025" name="Picture 1" descr="IV||O &#10;IV||1 &#10;IV||N-1 &#10;K &#10;E &#10;K - &#10;E &#10;... K - &#10;E &#10;M1 &#10;M2 &#10;MN - &#10;Co &#10;C1 &#10;C2 &#10;CN ">
            <a:extLst>
              <a:ext uri="{FF2B5EF4-FFF2-40B4-BE49-F238E27FC236}">
                <a16:creationId xmlns:a16="http://schemas.microsoft.com/office/drawing/2014/main" id="{E1E25D70-D01B-F76C-41C4-D97CE3078E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01" b="8669"/>
          <a:stretch>
            <a:fillRect/>
          </a:stretch>
        </p:blipFill>
        <p:spPr bwMode="auto">
          <a:xfrm>
            <a:off x="8124114" y="4165250"/>
            <a:ext cx="2995088" cy="1717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66A9935-1378-AFE7-D092-B39AEB62292E}"/>
              </a:ext>
            </a:extLst>
          </p:cNvPr>
          <p:cNvSpPr txBox="1"/>
          <p:nvPr/>
        </p:nvSpPr>
        <p:spPr>
          <a:xfrm>
            <a:off x="9159922" y="3719277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AES-CTR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406084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D9832E18-7ACB-0573-7642-0B741F8CEB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921" y="643467"/>
            <a:ext cx="3390956" cy="254321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1B6081D-D3E8-4209-B85B-EB1C655A6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1214" y="1111170"/>
            <a:ext cx="11040" cy="4645103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図 6" descr="グラフ, 折れ線グラフ, 散布図&#10;&#10;AI 生成コンテンツは誤りを含む可能性があります。">
            <a:extLst>
              <a:ext uri="{FF2B5EF4-FFF2-40B4-BE49-F238E27FC236}">
                <a16:creationId xmlns:a16="http://schemas.microsoft.com/office/drawing/2014/main" id="{10BEF09F-438B-B10B-F2E4-BCB7887088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308" y="643467"/>
            <a:ext cx="3390956" cy="2543217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8CA55E4-1295-45C8-BA05-5A9E705B7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03027" y="3428998"/>
            <a:ext cx="4188904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8C5794E-A9A1-4A23-AF68-C79A78223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610334" y="3428998"/>
            <a:ext cx="4188904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図 4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DEA30673-7860-C800-27F7-36093811D3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4158" y="3671316"/>
            <a:ext cx="3394482" cy="2545862"/>
          </a:xfrm>
          <a:prstGeom prst="rect">
            <a:avLst/>
          </a:prstGeom>
        </p:spPr>
      </p:pic>
      <p:pic>
        <p:nvPicPr>
          <p:cNvPr id="3" name="図 2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A57B16BD-E94C-3B44-665D-C5A3FC32E19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2473" y="3671316"/>
            <a:ext cx="3404625" cy="2553469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F342665-3E68-9A9B-C346-3619EF1EACF8}"/>
              </a:ext>
            </a:extLst>
          </p:cNvPr>
          <p:cNvSpPr txBox="1"/>
          <p:nvPr/>
        </p:nvSpPr>
        <p:spPr>
          <a:xfrm>
            <a:off x="83127" y="135082"/>
            <a:ext cx="59124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0208 measure of key stream on low random quality</a:t>
            </a:r>
          </a:p>
          <a:p>
            <a:r>
              <a:rPr lang="en-US" altLang="ja-JP" dirty="0" err="1"/>
              <a:t>support_shrink_hash_expand</a:t>
            </a:r>
            <a:endParaRPr lang="en-US" altLang="ja-JP" dirty="0"/>
          </a:p>
        </p:txBody>
      </p:sp>
      <p:pic>
        <p:nvPicPr>
          <p:cNvPr id="12" name="図 11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07C1E27A-DB6F-3671-B48B-1623928D3FD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634" y="1341120"/>
            <a:ext cx="1869445" cy="1402084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6D9990F-9246-871F-FF96-3849B882BD37}"/>
              </a:ext>
            </a:extLst>
          </p:cNvPr>
          <p:cNvSpPr txBox="1"/>
          <p:nvPr/>
        </p:nvSpPr>
        <p:spPr>
          <a:xfrm>
            <a:off x="9440662" y="1571058"/>
            <a:ext cx="109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032285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4596</TotalTime>
  <Words>82</Words>
  <Application>Microsoft Office PowerPoint</Application>
  <PresentationFormat>ワイド画面</PresentationFormat>
  <Paragraphs>15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Hiromasa Kinase</dc:creator>
  <cp:lastModifiedBy>Hiromasa Kinase</cp:lastModifiedBy>
  <cp:revision>2</cp:revision>
  <dcterms:created xsi:type="dcterms:W3CDTF">2026-02-13T09:27:40Z</dcterms:created>
  <dcterms:modified xsi:type="dcterms:W3CDTF">2026-02-16T14:28:44Z</dcterms:modified>
</cp:coreProperties>
</file>